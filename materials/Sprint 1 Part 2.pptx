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IBM Plex Sans"/>
      <p:regular r:id="rId13"/>
      <p:bold r:id="rId14"/>
      <p:italic r:id="rId15"/>
      <p:boldItalic r:id="rId16"/>
    </p:embeddedFont>
    <p:embeddedFont>
      <p:font typeface="Sora SemiBold"/>
      <p:regular r:id="rId17"/>
      <p:bold r:id="rId18"/>
    </p:embeddedFont>
    <p:embeddedFont>
      <p:font typeface="IBM Plex Sans Medium"/>
      <p:regular r:id="rId19"/>
      <p:bold r:id="rId20"/>
      <p:italic r:id="rId21"/>
      <p:boldItalic r:id="rId22"/>
    </p:embeddedFont>
    <p:embeddedFont>
      <p:font typeface="Sora Light"/>
      <p:regular r:id="rId23"/>
      <p:bold r:id="rId24"/>
    </p:embeddedFont>
    <p:embeddedFont>
      <p:font typeface="Sora ExtraLight"/>
      <p:regular r:id="rId25"/>
      <p:bold r:id="rId26"/>
    </p:embeddedFont>
    <p:embeddedFont>
      <p:font typeface="Sora"/>
      <p:regular r:id="rId27"/>
      <p:bold r:id="rId28"/>
    </p:embeddedFont>
    <p:embeddedFont>
      <p:font typeface="Sora Medium"/>
      <p:regular r:id="rId29"/>
      <p:bold r:id="rId30"/>
    </p:embeddedFont>
    <p:embeddedFont>
      <p:font typeface="IBM Plex Sa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CDE69F-214E-46DB-B3B0-151915FCCE1E}">
  <a:tblStyle styleId="{11CDE69F-214E-46DB-B3B0-151915FCCE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regular.fntdata"/><Relationship Id="rId30" Type="http://schemas.openxmlformats.org/officeDocument/2006/relationships/font" Target="fonts/SoraMedium-bold.fntdata"/><Relationship Id="rId33" Type="http://schemas.openxmlformats.org/officeDocument/2006/relationships/font" Target="fonts/IBMPlexSansSemiBold-italic.fntdata"/><Relationship Id="rId32" Type="http://schemas.openxmlformats.org/officeDocument/2006/relationships/font" Target="fonts/IBMPlexSansSemiBold-bold.fntdata"/><Relationship Id="rId34" Type="http://schemas.openxmlformats.org/officeDocument/2006/relationships/font" Target="fonts/IBMPlexSansSemiBold-boldItalic.fntdata"/><Relationship Id="rId20" Type="http://schemas.openxmlformats.org/officeDocument/2006/relationships/font" Target="fonts/IBMPlexSansMedium-bold.fntdata"/><Relationship Id="rId22" Type="http://schemas.openxmlformats.org/officeDocument/2006/relationships/font" Target="fonts/IBMPlexSansMedium-boldItalic.fntdata"/><Relationship Id="rId21" Type="http://schemas.openxmlformats.org/officeDocument/2006/relationships/font" Target="fonts/IBMPlexSansMedium-italic.fntdata"/><Relationship Id="rId24" Type="http://schemas.openxmlformats.org/officeDocument/2006/relationships/font" Target="fonts/SoraLight-bold.fntdata"/><Relationship Id="rId23" Type="http://schemas.openxmlformats.org/officeDocument/2006/relationships/font" Target="fonts/SoraLight-regular.fntdata"/><Relationship Id="rId26" Type="http://schemas.openxmlformats.org/officeDocument/2006/relationships/font" Target="fonts/SoraExtraLight-bold.fntdata"/><Relationship Id="rId25" Type="http://schemas.openxmlformats.org/officeDocument/2006/relationships/font" Target="fonts/SoraExtraLight-regular.fntdata"/><Relationship Id="rId28" Type="http://schemas.openxmlformats.org/officeDocument/2006/relationships/font" Target="fonts/Sora-bold.fntdata"/><Relationship Id="rId27" Type="http://schemas.openxmlformats.org/officeDocument/2006/relationships/font" Target="fonts/Sora-regular.fntdata"/><Relationship Id="rId29" Type="http://schemas.openxmlformats.org/officeDocument/2006/relationships/font" Target="fonts/SoraMedium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regular.fntdata"/><Relationship Id="rId12" Type="http://schemas.openxmlformats.org/officeDocument/2006/relationships/slide" Target="slides/slide6.xml"/><Relationship Id="rId15" Type="http://schemas.openxmlformats.org/officeDocument/2006/relationships/font" Target="fonts/IBMPlexSans-italic.fntdata"/><Relationship Id="rId14" Type="http://schemas.openxmlformats.org/officeDocument/2006/relationships/font" Target="fonts/IBMPlexSans-bold.fntdata"/><Relationship Id="rId17" Type="http://schemas.openxmlformats.org/officeDocument/2006/relationships/font" Target="fonts/SoraSemiBold-regular.fntdata"/><Relationship Id="rId16" Type="http://schemas.openxmlformats.org/officeDocument/2006/relationships/font" Target="fonts/IBMPlexSans-boldItalic.fntdata"/><Relationship Id="rId19" Type="http://schemas.openxmlformats.org/officeDocument/2006/relationships/font" Target="fonts/IBMPlexSansMedium-regular.fntdata"/><Relationship Id="rId18" Type="http://schemas.openxmlformats.org/officeDocument/2006/relationships/font" Target="fonts/Sor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ca7cec56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ca7cec56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cc42aa677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cc42aa677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 the progress of our self-assigned tasks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done and what’s left before the demo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cc42aa677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cc42aa67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cc42aa677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cc42aa677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tracking velocity … only just given time to put a chart together in today’s class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cc42aa677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cc42aa677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c42aa677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cc42aa677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very interesting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Sprint 1 - Part 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89" name="Google Shape;889;p51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">
                <a:latin typeface="Sora"/>
                <a:ea typeface="Sora"/>
                <a:cs typeface="Sora"/>
                <a:sym typeface="Sora"/>
              </a:rPr>
              <a:t>Easter Egg</a:t>
            </a:r>
            <a:endParaRPr sz="3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895" name="Google Shape;895;p52"/>
          <p:cNvSpPr txBox="1"/>
          <p:nvPr/>
        </p:nvSpPr>
        <p:spPr>
          <a:xfrm>
            <a:off x="376400" y="1313025"/>
            <a:ext cx="75942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Wednesday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(2/25):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Discussed architecture and task-progress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Friday (2/27)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Began Demo planning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Sunday Meeting: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Discussed Progress (completed / left)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Compilation Issues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Integration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Today: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Code-Review process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Completed Demo Planning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3"/>
          <p:cNvSpPr txBox="1"/>
          <p:nvPr>
            <p:ph idx="13" type="title"/>
          </p:nvPr>
        </p:nvSpPr>
        <p:spPr>
          <a:xfrm>
            <a:off x="115025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Project</a:t>
            </a:r>
            <a:endParaRPr/>
          </a:p>
        </p:txBody>
      </p:sp>
      <p:sp>
        <p:nvSpPr>
          <p:cNvPr id="901" name="Google Shape;901;p53"/>
          <p:cNvSpPr txBox="1"/>
          <p:nvPr/>
        </p:nvSpPr>
        <p:spPr>
          <a:xfrm>
            <a:off x="376400" y="1725150"/>
            <a:ext cx="7594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Current State: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Pivoted to Sports Team Tracking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Frontend / Backend 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Integration 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DB Setup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Docker Environment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Frontend / Backend Communicate Mock Data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Completed User Stories Planned for Sprint 1 / Demo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4"/>
          <p:cNvSpPr txBox="1"/>
          <p:nvPr>
            <p:ph idx="13" type="title"/>
          </p:nvPr>
        </p:nvSpPr>
        <p:spPr>
          <a:xfrm>
            <a:off x="362400" y="50277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</a:t>
            </a:r>
            <a:endParaRPr/>
          </a:p>
        </p:txBody>
      </p:sp>
      <p:sp>
        <p:nvSpPr>
          <p:cNvPr id="907" name="Google Shape;907;p54"/>
          <p:cNvSpPr txBox="1"/>
          <p:nvPr/>
        </p:nvSpPr>
        <p:spPr>
          <a:xfrm>
            <a:off x="362400" y="1542025"/>
            <a:ext cx="75942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Metrics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SP</a:t>
            </a: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Self-Assigned, Velocity Tracking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Completed Our User Stories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SPI / Pipeline Status?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Rough Plan for Following Week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More User Stories, Such As…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■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Moving Beyond Mock Data with DB Querying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Continue Developing/Expanding Functionality and UX</a:t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p55" title="Screenshot 2026-03-02 at 2.37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18025"/>
            <a:ext cx="8839204" cy="4065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7" name="Google Shape;917;p56"/>
          <p:cNvGraphicFramePr/>
          <p:nvPr/>
        </p:nvGraphicFramePr>
        <p:xfrm>
          <a:off x="1510750" y="45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{11CDE69F-214E-46DB-B3B0-151915FCCE1E}</a:tableStyleId>
              </a:tblPr>
              <a:tblGrid>
                <a:gridCol w="644550"/>
                <a:gridCol w="1017700"/>
                <a:gridCol w="720875"/>
                <a:gridCol w="992250"/>
                <a:gridCol w="610625"/>
                <a:gridCol w="1306050"/>
              </a:tblGrid>
              <a:tr h="59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Issue #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User Story / Task Description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Assigned To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Status</a:t>
                      </a:r>
                      <a:br>
                        <a:rPr b="1" lang="en" sz="800">
                          <a:solidFill>
                            <a:srgbClr val="1F1F1F"/>
                          </a:solidFill>
                        </a:rPr>
                      </a:b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Completed/</a:t>
                      </a:r>
                      <a:br>
                        <a:rPr b="1" lang="en" sz="800">
                          <a:solidFill>
                            <a:srgbClr val="1F1F1F"/>
                          </a:solidFill>
                        </a:rPr>
                      </a:b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Incompleted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Story Points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Technical Validation (The "Demo" Proof)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9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#22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Flight</a:t>
                      </a: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List Components,  Service Calls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Corey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#49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Implement Backend Endpoints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Ernesto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Akhil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6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Mock Data Responses to Frontend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#42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API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Jack 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5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Run api script and show json files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9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#26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Docker Compose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Yazod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#25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DB Schema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Alan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0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#48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Frontend Backend Integration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Akhil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6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1F1F1F"/>
                          </a:solidFill>
                        </a:rPr>
                        <a:t>FrontEnd Tracking page getting data from backend</a:t>
                      </a:r>
                      <a:endParaRPr b="1" sz="8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